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bril Fatface" charset="0"/>
      <p:regular r:id="rId8"/>
    </p:embeddedFont>
    <p:embeddedFont>
      <p:font typeface="DM Sans" charset="0"/>
      <p:regular r:id="rId9"/>
    </p:embeddedFont>
    <p:embeddedFont>
      <p:font typeface="Playfair Display" charset="0"/>
      <p:regular r:id="rId10"/>
    </p:embeddedFont>
    <p:embeddedFont>
      <p:font typeface="Calibri" pitchFamily="34" charset="0"/>
      <p:regular r:id="rId11"/>
      <p:bold r:id="rId12"/>
      <p:italic r:id="rId13"/>
      <p:boldItalic r:id="rId14"/>
    </p:embeddedFont>
    <p:embeddedFont>
      <p:font typeface="Cardo" charset="-79"/>
      <p:regular r:id="rId15"/>
    </p:embeddedFont>
    <p:embeddedFont>
      <p:font typeface="Libre Baskerville" charset="0"/>
      <p:regular r:id="rId16"/>
    </p:embeddedFont>
    <p:embeddedFont>
      <p:font typeface="Futura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-65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9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399508"/>
            <a:ext cx="9024819" cy="9487984"/>
            <a:chOff x="0" y="0"/>
            <a:chExt cx="1398181" cy="14699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8181" cy="1469937"/>
            </a:xfrm>
            <a:custGeom>
              <a:avLst/>
              <a:gdLst/>
              <a:ahLst/>
              <a:cxnLst/>
              <a:rect l="l" t="t" r="r" b="b"/>
              <a:pathLst>
                <a:path w="1398181" h="1469937">
                  <a:moveTo>
                    <a:pt x="19730" y="0"/>
                  </a:moveTo>
                  <a:lnTo>
                    <a:pt x="1378450" y="0"/>
                  </a:lnTo>
                  <a:cubicBezTo>
                    <a:pt x="1389347" y="0"/>
                    <a:pt x="1398181" y="8834"/>
                    <a:pt x="1398181" y="19730"/>
                  </a:cubicBezTo>
                  <a:lnTo>
                    <a:pt x="1398181" y="1450207"/>
                  </a:lnTo>
                  <a:cubicBezTo>
                    <a:pt x="1398181" y="1455439"/>
                    <a:pt x="1396102" y="1460458"/>
                    <a:pt x="1392402" y="1464158"/>
                  </a:cubicBezTo>
                  <a:cubicBezTo>
                    <a:pt x="1388702" y="1467858"/>
                    <a:pt x="1383683" y="1469937"/>
                    <a:pt x="1378450" y="1469937"/>
                  </a:cubicBezTo>
                  <a:lnTo>
                    <a:pt x="19730" y="1469937"/>
                  </a:lnTo>
                  <a:cubicBezTo>
                    <a:pt x="8834" y="1469937"/>
                    <a:pt x="0" y="1461103"/>
                    <a:pt x="0" y="1450207"/>
                  </a:cubicBezTo>
                  <a:lnTo>
                    <a:pt x="0" y="19730"/>
                  </a:lnTo>
                  <a:cubicBezTo>
                    <a:pt x="0" y="8834"/>
                    <a:pt x="8834" y="0"/>
                    <a:pt x="19730" y="0"/>
                  </a:cubicBezTo>
                  <a:close/>
                </a:path>
              </a:pathLst>
            </a:custGeom>
            <a:blipFill>
              <a:blip r:embed="rId2"/>
              <a:stretch>
                <a:fillRect l="-2566" r="-256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28700" y="1549878"/>
            <a:ext cx="7175418" cy="3669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23"/>
              </a:lnSpc>
              <a:spcBef>
                <a:spcPct val="0"/>
              </a:spcBef>
            </a:pPr>
            <a:r>
              <a:rPr lang="en-US" sz="7016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Library Management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83229" y="5957578"/>
            <a:ext cx="5358884" cy="505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0"/>
              </a:lnSpc>
              <a:spcBef>
                <a:spcPct val="0"/>
              </a:spcBef>
            </a:pPr>
            <a:r>
              <a:rPr lang="en-US" sz="298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(GUI Development with Javafx)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9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734655" y="332111"/>
            <a:ext cx="8202569" cy="1259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u="sng">
                <a:solidFill>
                  <a:srgbClr val="8C52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7091" y="2166324"/>
            <a:ext cx="14519994" cy="4173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403" lvl="1" indent="-318702" algn="l">
              <a:lnSpc>
                <a:spcPts val="4133"/>
              </a:lnSpc>
              <a:buFont typeface="Arial"/>
              <a:buChar char="•"/>
            </a:pPr>
            <a:r>
              <a:rPr lang="en-US" sz="2952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A Library Management System (LMS) is software used to manage daily library operations.</a:t>
            </a:r>
          </a:p>
          <a:p>
            <a:pPr algn="l">
              <a:lnSpc>
                <a:spcPts val="4133"/>
              </a:lnSpc>
            </a:pPr>
            <a:endParaRPr/>
          </a:p>
          <a:p>
            <a:pPr marL="637403" lvl="1" indent="-318702" algn="l">
              <a:lnSpc>
                <a:spcPts val="4133"/>
              </a:lnSpc>
              <a:buFont typeface="Arial"/>
              <a:buChar char="•"/>
            </a:pPr>
            <a:r>
              <a:rPr lang="en-US" sz="2952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Helps in organizing books, members, and transactions.</a:t>
            </a:r>
          </a:p>
          <a:p>
            <a:pPr algn="l">
              <a:lnSpc>
                <a:spcPts val="4133"/>
              </a:lnSpc>
            </a:pPr>
            <a:endParaRPr/>
          </a:p>
          <a:p>
            <a:pPr marL="637403" lvl="1" indent="-318702" algn="l">
              <a:lnSpc>
                <a:spcPts val="4133"/>
              </a:lnSpc>
              <a:buFont typeface="Arial"/>
              <a:buChar char="•"/>
            </a:pPr>
            <a:r>
              <a:rPr lang="en-US" sz="2952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Reduces manual work and errors.</a:t>
            </a:r>
          </a:p>
          <a:p>
            <a:pPr algn="l">
              <a:lnSpc>
                <a:spcPts val="4133"/>
              </a:lnSpc>
            </a:pPr>
            <a:endParaRPr/>
          </a:p>
          <a:p>
            <a:pPr marL="637403" lvl="1" indent="-318702" algn="l">
              <a:lnSpc>
                <a:spcPts val="4133"/>
              </a:lnSpc>
              <a:buFont typeface="Arial"/>
              <a:buChar char="•"/>
            </a:pPr>
            <a:r>
              <a:rPr lang="en-US" sz="2952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Speeds up book issuing, returning, and searching.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7091" y="6910985"/>
            <a:ext cx="13472419" cy="255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5989" lvl="1" indent="-312995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Enhances data security, preventing loss of records.</a:t>
            </a:r>
          </a:p>
          <a:p>
            <a:pPr algn="l">
              <a:lnSpc>
                <a:spcPts val="4059"/>
              </a:lnSpc>
            </a:pPr>
            <a:endParaRPr/>
          </a:p>
          <a:p>
            <a:pPr marL="625989" lvl="1" indent="-312995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Saves time for both librarians and users by automating repetitive tasks.</a:t>
            </a:r>
          </a:p>
          <a:p>
            <a:pPr algn="l">
              <a:lnSpc>
                <a:spcPts val="4059"/>
              </a:lnSpc>
            </a:pPr>
            <a:endParaRPr/>
          </a:p>
          <a:p>
            <a:pPr marL="625989" lvl="1" indent="-312995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Improves user experience with an organized and easy-to-use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9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87026" y="548182"/>
            <a:ext cx="8648266" cy="1153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11"/>
              </a:lnSpc>
            </a:pPr>
            <a:r>
              <a:rPr lang="en-US" sz="6722">
                <a:solidFill>
                  <a:srgbClr val="5170FF"/>
                </a:solidFill>
                <a:latin typeface="Norwester"/>
                <a:ea typeface="Norwester"/>
                <a:cs typeface="Norwester"/>
                <a:sym typeface="Norwester"/>
              </a:rPr>
              <a:t>System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40198" y="1558538"/>
            <a:ext cx="13514002" cy="6654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4"/>
              </a:lnSpc>
            </a:pPr>
            <a:endParaRPr/>
          </a:p>
          <a:p>
            <a:pPr algn="ctr">
              <a:lnSpc>
                <a:spcPts val="4139"/>
              </a:lnSpc>
              <a:spcBef>
                <a:spcPct val="0"/>
              </a:spcBef>
            </a:pPr>
            <a:endParaRPr/>
          </a:p>
          <a:p>
            <a:pPr marL="638389" lvl="1" indent="-319195" algn="l">
              <a:lnSpc>
                <a:spcPts val="4139"/>
              </a:lnSpc>
              <a:buFont typeface="Arial"/>
              <a:buChar char="•"/>
            </a:pPr>
            <a:r>
              <a:rPr lang="en-US" sz="295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User Interface – For librarians and students to interact.</a:t>
            </a:r>
          </a:p>
          <a:p>
            <a:pPr algn="l">
              <a:lnSpc>
                <a:spcPts val="4139"/>
              </a:lnSpc>
            </a:pPr>
            <a:endParaRPr/>
          </a:p>
          <a:p>
            <a:pPr marL="638389" lvl="1" indent="-319195" algn="l">
              <a:lnSpc>
                <a:spcPts val="4139"/>
              </a:lnSpc>
              <a:buFont typeface="Arial"/>
              <a:buChar char="•"/>
            </a:pPr>
            <a:r>
              <a:rPr lang="en-US" sz="295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Database – Stores data about books, members, and transactions.</a:t>
            </a:r>
          </a:p>
          <a:p>
            <a:pPr algn="l">
              <a:lnSpc>
                <a:spcPts val="4139"/>
              </a:lnSpc>
            </a:pPr>
            <a:endParaRPr/>
          </a:p>
          <a:p>
            <a:pPr marL="638389" lvl="1" indent="-319195" algn="l">
              <a:lnSpc>
                <a:spcPts val="4139"/>
              </a:lnSpc>
              <a:buFont typeface="Arial"/>
              <a:buChar char="•"/>
            </a:pPr>
            <a:r>
              <a:rPr lang="en-US" sz="295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Application Layer – Handles logic like issuing, returning, searching books.</a:t>
            </a:r>
          </a:p>
          <a:p>
            <a:pPr algn="l">
              <a:lnSpc>
                <a:spcPts val="4139"/>
              </a:lnSpc>
            </a:pPr>
            <a:endParaRPr/>
          </a:p>
          <a:p>
            <a:pPr marL="638389" lvl="1" indent="-319195" algn="l">
              <a:lnSpc>
                <a:spcPts val="4139"/>
              </a:lnSpc>
              <a:buFont typeface="Arial"/>
              <a:buChar char="•"/>
            </a:pPr>
            <a:r>
              <a:rPr lang="en-US" sz="295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Admin Panel – For managing users and books.</a:t>
            </a:r>
          </a:p>
          <a:p>
            <a:pPr algn="ctr">
              <a:lnSpc>
                <a:spcPts val="4139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139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139"/>
              </a:lnSpc>
              <a:spcBef>
                <a:spcPct val="0"/>
              </a:spcBef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422549" y="2200531"/>
            <a:ext cx="3254573" cy="72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3"/>
              </a:lnSpc>
              <a:spcBef>
                <a:spcPct val="0"/>
              </a:spcBef>
            </a:pPr>
            <a:r>
              <a:rPr lang="en-US" sz="4216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Components: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2549" y="7218766"/>
            <a:ext cx="2657832" cy="72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7"/>
              </a:lnSpc>
              <a:spcBef>
                <a:spcPct val="0"/>
              </a:spcBef>
            </a:pPr>
            <a:r>
              <a:rPr lang="en-US" sz="4276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Workflow: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53912" y="7899824"/>
            <a:ext cx="11180175" cy="5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Users → UI → Application Layer → Database → UI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9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5215" y="394652"/>
            <a:ext cx="3137535" cy="1143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1"/>
              </a:lnSpc>
            </a:pPr>
            <a:r>
              <a:rPr lang="en-US" sz="5993" u="sng">
                <a:solidFill>
                  <a:srgbClr val="38B6FF"/>
                </a:solidFill>
                <a:latin typeface="Old Standard"/>
                <a:ea typeface="Old Standard"/>
                <a:cs typeface="Old Standard"/>
                <a:sym typeface="Old Standard"/>
              </a:rPr>
              <a:t>Features-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13212" y="1683366"/>
            <a:ext cx="11692456" cy="80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0408" lvl="1" indent="-350204" algn="just">
              <a:lnSpc>
                <a:spcPts val="4541"/>
              </a:lnSpc>
              <a:buAutoNum type="arabicPeriod"/>
            </a:pPr>
            <a:r>
              <a:rPr lang="en-US" sz="3244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Book Management: </a:t>
            </a:r>
          </a:p>
          <a:p>
            <a:pPr algn="just">
              <a:lnSpc>
                <a:spcPts val="4541"/>
              </a:lnSpc>
            </a:pPr>
            <a:r>
              <a:rPr lang="en-US" sz="3244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             Add, update, delete books; categorize by author, genre, ID.</a:t>
            </a:r>
          </a:p>
          <a:p>
            <a:pPr algn="just">
              <a:lnSpc>
                <a:spcPts val="4541"/>
              </a:lnSpc>
            </a:pPr>
            <a:endParaRPr/>
          </a:p>
          <a:p>
            <a:pPr algn="just">
              <a:lnSpc>
                <a:spcPts val="4541"/>
              </a:lnSpc>
            </a:pPr>
            <a:r>
              <a:rPr lang="en-US" sz="3244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    2.Member Management: </a:t>
            </a:r>
          </a:p>
          <a:p>
            <a:pPr algn="just">
              <a:lnSpc>
                <a:spcPts val="4541"/>
              </a:lnSpc>
            </a:pPr>
            <a:r>
              <a:rPr lang="en-US" sz="3244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            Register members, update info. </a:t>
            </a:r>
          </a:p>
          <a:p>
            <a:pPr algn="just">
              <a:lnSpc>
                <a:spcPts val="4541"/>
              </a:lnSpc>
            </a:pPr>
            <a:endParaRPr/>
          </a:p>
          <a:p>
            <a:pPr marL="700408" lvl="1" indent="-350204" algn="just">
              <a:lnSpc>
                <a:spcPts val="4541"/>
              </a:lnSpc>
              <a:buAutoNum type="arabicPeriod"/>
            </a:pPr>
            <a:r>
              <a:rPr lang="en-US" sz="3244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Issue &amp; Return System:</a:t>
            </a:r>
          </a:p>
          <a:p>
            <a:pPr algn="just">
              <a:lnSpc>
                <a:spcPts val="4541"/>
              </a:lnSpc>
            </a:pPr>
            <a:r>
              <a:rPr lang="en-US" sz="3244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            Track borrowing, due dates, and fines.</a:t>
            </a:r>
          </a:p>
          <a:p>
            <a:pPr algn="just">
              <a:lnSpc>
                <a:spcPts val="4541"/>
              </a:lnSpc>
            </a:pPr>
            <a:endParaRPr/>
          </a:p>
          <a:p>
            <a:pPr algn="just">
              <a:lnSpc>
                <a:spcPts val="4541"/>
              </a:lnSpc>
            </a:pPr>
            <a:r>
              <a:rPr lang="en-US" sz="3244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   4.Search Module: </a:t>
            </a:r>
          </a:p>
          <a:p>
            <a:pPr algn="just">
              <a:lnSpc>
                <a:spcPts val="4541"/>
              </a:lnSpc>
            </a:pPr>
            <a:r>
              <a:rPr lang="en-US" sz="3244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            Search books by title, subject, author, etc.</a:t>
            </a:r>
          </a:p>
          <a:p>
            <a:pPr algn="just">
              <a:lnSpc>
                <a:spcPts val="4541"/>
              </a:lnSpc>
            </a:pPr>
            <a:endParaRPr/>
          </a:p>
          <a:p>
            <a:pPr algn="just">
              <a:lnSpc>
                <a:spcPts val="4541"/>
              </a:lnSpc>
            </a:pPr>
            <a:r>
              <a:rPr lang="en-US" sz="3244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   5.Reports:</a:t>
            </a:r>
          </a:p>
          <a:p>
            <a:pPr algn="just">
              <a:lnSpc>
                <a:spcPts val="4541"/>
              </a:lnSpc>
            </a:pPr>
            <a:r>
              <a:rPr lang="en-US" sz="3244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            Daily activity, issued books, fines collected, inventory.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9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77818" y="3570140"/>
            <a:ext cx="9039905" cy="6716860"/>
          </a:xfrm>
          <a:custGeom>
            <a:avLst/>
            <a:gdLst/>
            <a:ahLst/>
            <a:cxnLst/>
            <a:rect l="l" t="t" r="r" b="b"/>
            <a:pathLst>
              <a:path w="9039905" h="6716860">
                <a:moveTo>
                  <a:pt x="0" y="0"/>
                </a:moveTo>
                <a:lnTo>
                  <a:pt x="9039905" y="0"/>
                </a:lnTo>
                <a:lnTo>
                  <a:pt x="9039905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5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360685" y="475192"/>
            <a:ext cx="5566630" cy="100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3"/>
              </a:lnSpc>
              <a:spcBef>
                <a:spcPct val="0"/>
              </a:spcBef>
            </a:pPr>
            <a:r>
              <a:rPr lang="en-US" sz="5916">
                <a:solidFill>
                  <a:srgbClr val="E2A9F1"/>
                </a:solidFill>
                <a:latin typeface="Abril Fatface"/>
                <a:ea typeface="Abril Fatface"/>
                <a:cs typeface="Abril Fatface"/>
                <a:sym typeface="Abril Fatface"/>
              </a:rPr>
              <a:t>Technical setup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3804" y="1946820"/>
            <a:ext cx="9347835" cy="442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5015" lvl="1" indent="-452508" algn="l">
              <a:lnSpc>
                <a:spcPts val="5868"/>
              </a:lnSpc>
              <a:buFont typeface="Arial"/>
              <a:buChar char="•"/>
            </a:pPr>
            <a:r>
              <a:rPr lang="en-US" sz="419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IDE -  Intellij</a:t>
            </a:r>
          </a:p>
          <a:p>
            <a:pPr marL="905015" lvl="1" indent="-452508" algn="l">
              <a:lnSpc>
                <a:spcPts val="5868"/>
              </a:lnSpc>
              <a:buFont typeface="Arial"/>
              <a:buChar char="•"/>
            </a:pPr>
            <a:r>
              <a:rPr lang="en-US" sz="419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Java Version -  JDK 25+</a:t>
            </a:r>
          </a:p>
          <a:p>
            <a:pPr marL="905015" lvl="1" indent="-452508" algn="l">
              <a:lnSpc>
                <a:spcPts val="5868"/>
              </a:lnSpc>
              <a:buFont typeface="Arial"/>
              <a:buChar char="•"/>
            </a:pPr>
            <a:r>
              <a:rPr lang="en-US" sz="419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Libraries -  Javafx SDX</a:t>
            </a:r>
          </a:p>
          <a:p>
            <a:pPr marL="905015" lvl="1" indent="-452508" algn="l">
              <a:lnSpc>
                <a:spcPts val="5868"/>
              </a:lnSpc>
              <a:buFont typeface="Arial"/>
              <a:buChar char="•"/>
            </a:pPr>
            <a:r>
              <a:rPr lang="en-US" sz="419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Database Tables - Books, Users</a:t>
            </a:r>
          </a:p>
          <a:p>
            <a:pPr algn="l">
              <a:lnSpc>
                <a:spcPts val="5868"/>
              </a:lnSpc>
            </a:pPr>
            <a:r>
              <a:rPr lang="en-US" sz="419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        , IssuedBooks</a:t>
            </a:r>
          </a:p>
          <a:p>
            <a:pPr marL="905015" lvl="1" indent="-452508" algn="l">
              <a:lnSpc>
                <a:spcPts val="5868"/>
              </a:lnSpc>
              <a:buFont typeface="Arial"/>
              <a:buChar char="•"/>
            </a:pPr>
            <a:r>
              <a:rPr lang="en-US" sz="419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Build tools - Maven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9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5828" y="-41560"/>
            <a:ext cx="8702172" cy="10526287"/>
          </a:xfrm>
          <a:custGeom>
            <a:avLst/>
            <a:gdLst/>
            <a:ahLst/>
            <a:cxnLst/>
            <a:rect l="l" t="t" r="r" b="b"/>
            <a:pathLst>
              <a:path w="8702172" h="10526287">
                <a:moveTo>
                  <a:pt x="0" y="0"/>
                </a:moveTo>
                <a:lnTo>
                  <a:pt x="8702172" y="0"/>
                </a:lnTo>
                <a:lnTo>
                  <a:pt x="8702172" y="10526287"/>
                </a:lnTo>
                <a:lnTo>
                  <a:pt x="0" y="10526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522" r="-18886" b="-155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65123" y="1456296"/>
            <a:ext cx="7008376" cy="1959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10"/>
              </a:lnSpc>
              <a:spcBef>
                <a:spcPct val="0"/>
              </a:spcBef>
            </a:pPr>
            <a:r>
              <a:rPr lang="en-US" sz="11364">
                <a:solidFill>
                  <a:srgbClr val="8C52FF"/>
                </a:solidFill>
                <a:latin typeface="Bantayog"/>
                <a:ea typeface="Bantayog"/>
                <a:cs typeface="Bantayog"/>
                <a:sym typeface="Bantayog"/>
              </a:rPr>
              <a:t>Thank You!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82439" y="4463221"/>
            <a:ext cx="7042190" cy="3459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2"/>
              </a:lnSpc>
            </a:pPr>
            <a:endParaRPr/>
          </a:p>
          <a:p>
            <a:pPr algn="l">
              <a:lnSpc>
                <a:spcPts val="6702"/>
              </a:lnSpc>
            </a:pPr>
            <a:r>
              <a:rPr lang="en-US" sz="4787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1)  Sharanya Pandey </a:t>
            </a:r>
          </a:p>
          <a:p>
            <a:pPr algn="l">
              <a:lnSpc>
                <a:spcPts val="6702"/>
              </a:lnSpc>
            </a:pPr>
            <a:r>
              <a:rPr lang="en-US" sz="4787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2)  Janvi Singh </a:t>
            </a:r>
          </a:p>
          <a:p>
            <a:pPr algn="l">
              <a:lnSpc>
                <a:spcPts val="6702"/>
              </a:lnSpc>
              <a:spcBef>
                <a:spcPct val="0"/>
              </a:spcBef>
            </a:pPr>
            <a:r>
              <a:rPr lang="en-US" sz="4787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3)  Pooja Verma          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4529107"/>
            <a:ext cx="4085489" cy="703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5"/>
              </a:lnSpc>
              <a:spcBef>
                <a:spcPct val="0"/>
              </a:spcBef>
            </a:pPr>
            <a:r>
              <a:rPr lang="en-US" sz="4161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Developed by: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268</Words>
  <Application>Microsoft Office PowerPoint</Application>
  <PresentationFormat>Custom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Arial</vt:lpstr>
      <vt:lpstr>Abril Fatface</vt:lpstr>
      <vt:lpstr>DM Sans</vt:lpstr>
      <vt:lpstr>Playfair Display</vt:lpstr>
      <vt:lpstr>Calibri</vt:lpstr>
      <vt:lpstr>Norwester</vt:lpstr>
      <vt:lpstr>Telegraf</vt:lpstr>
      <vt:lpstr>Old Standard</vt:lpstr>
      <vt:lpstr>Cardo</vt:lpstr>
      <vt:lpstr>Libre Baskerville</vt:lpstr>
      <vt:lpstr>Bantayog</vt:lpstr>
      <vt:lpstr>Futura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creator>Sharanya Pandey</dc:creator>
  <cp:lastModifiedBy>Sharanya Pandey</cp:lastModifiedBy>
  <cp:revision>1</cp:revision>
  <dcterms:created xsi:type="dcterms:W3CDTF">2006-08-16T00:00:00Z</dcterms:created>
  <dcterms:modified xsi:type="dcterms:W3CDTF">2025-12-03T06:09:23Z</dcterms:modified>
  <dc:identifier>DAG6X7WIZ30</dc:identifier>
</cp:coreProperties>
</file>